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1371600"/>
            <a:ext cx="3200400" cy="32004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5486400"/>
            <a:ext cx="1828800" cy="18288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59669"/>
                </a:solidFill>
              </a:rPr>
              <a:t>🔲  BLACKBOX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F172A"/>
                </a:solidFill>
              </a:rPr>
              <a:t>팀 프로젝트 기여도 추적
EdTech SaaS 플랫폼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75A6B"/>
                </a:solidFill>
              </a:rPr>
              <a:t>컴퓨터소프트웨어과  |  프로젝트 구현  |  Team Blackbox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284C7"/>
                </a:solidFill>
              </a:rP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54864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목차  INDEX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35661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59669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프로젝트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517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팀 소개 · 프로젝트 소개 · 개발 일정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737360"/>
            <a:ext cx="35661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828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59669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프로젝트 설계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6517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아키텍처 · 유스케이스 · 스토리보드
화면 설계 · DB 설계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737360"/>
            <a:ext cx="35661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828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59669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프로젝트 구현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6517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개발환경 · 구현 기능 ①②③
AI 활용 기능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49039"/>
            <a:ext cx="35661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84047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59669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2519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2학기 진행 계획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6634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기능 확장 계획 · 일정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749039"/>
            <a:ext cx="35661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384047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59669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2519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결과 및 고찰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66344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소감 · 시행착오 3가지 · 극복 사례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54864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01  프로젝트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A6B"/>
                </a:solidFill>
              </a:rPr>
              <a:t>팀 소개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11430000" cy="411480"/>
          </a:xfrm>
          <a:prstGeom prst="rect">
            <a:avLst/>
          </a:prstGeom>
          <a:solidFill>
            <a:srgbClr val="E8EFF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</a:rPr>
              <a:t>팀원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691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</a:rPr>
              <a:t>역할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691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</a:rPr>
              <a:t>기여도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48840"/>
            <a:ext cx="11430000" cy="68580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31343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홍길동 (팀장)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31343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A6B"/>
                </a:solidFill>
              </a:rPr>
              <a:t>백엔드 서버 구현, DB 설계, 깃허브·Google 연동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3134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35%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98648"/>
            <a:ext cx="114300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063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팀원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063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A6B"/>
                </a:solidFill>
              </a:rPr>
              <a:t>프론트엔드(Next.js) 구현, UI/UX 설계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3063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30%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48456"/>
            <a:ext cx="11430000" cy="68580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81304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팀원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813048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A6B"/>
                </a:solidFill>
              </a:rPr>
              <a:t>Notion 연동, 캘린더 기능, 파일 검사 기능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38130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20%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398264"/>
            <a:ext cx="114300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56285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172A"/>
                </a:solidFill>
              </a:rPr>
              <a:t>팀원 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562856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A6B"/>
                </a:solidFill>
              </a:rPr>
              <a:t>AI 분석 연동, Discord 알림, PDF 보고서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456285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15%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A6B"/>
                </a:solidFill>
              </a:rPr>
              <a:t>※ 팀원 이름 및 기여도는 실제 정보로 수정 필요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54864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01  프로젝트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A6B"/>
                </a:solidFill>
              </a:rPr>
              <a:t>프로젝트 소개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53035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9669"/>
                </a:solidFill>
              </a:rPr>
              <a:t>프로젝트명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Blackbox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645920"/>
            <a:ext cx="57607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691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9669"/>
                </a:solidFill>
              </a:rPr>
              <a:t>개발 기간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2025년 3월 ~ 6월  (약 15주)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34640"/>
            <a:ext cx="113385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880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</a:rPr>
              <a:t>선정 이유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461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대학교 팀 프로젝트에서 '무임승차' 문제가 빈번하게 발생하지만, 기여도를 객관적으로 측정하는 도구가 없음.
GitHub 커밋·Notion 편집·Google Docs 활동·회의 참석·태스크 완료 등 다양한 데이터를 자동 수집·정량화하여
교수·팀원 모두가 납득할 수 있는 투명한 기여도 평가 시스템을 제공하고자 선정.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206240"/>
            <a:ext cx="2103120" cy="2377440"/>
          </a:xfrm>
          <a:prstGeom prst="rect">
            <a:avLst/>
          </a:prstGeom>
          <a:solidFill>
            <a:srgbClr val="F0F4F8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343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172A"/>
                </a:solidFill>
              </a:rP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920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실시간
기여도 측정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4406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A6B"/>
                </a:solidFill>
              </a:rPr>
              <a:t>Task·Meeting·File·
GitHub·Notion·Google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33472" y="4206240"/>
            <a:ext cx="2103120" cy="2377440"/>
          </a:xfrm>
          <a:prstGeom prst="rect">
            <a:avLst/>
          </a:prstGeom>
          <a:solidFill>
            <a:srgbClr val="F0F4F8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64991" y="4343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172A"/>
                </a:solidFill>
              </a:rPr>
              <a:t>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24912" y="48920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AI 팀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24912" y="54406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A6B"/>
                </a:solidFill>
              </a:rPr>
              <a:t>GPT-4.1-nano 기반
팀 역량 진단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01184" y="4206240"/>
            <a:ext cx="2103120" cy="2377440"/>
          </a:xfrm>
          <a:prstGeom prst="rect">
            <a:avLst/>
          </a:prstGeom>
          <a:solidFill>
            <a:srgbClr val="F0F4F8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32704" y="4343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172A"/>
                </a:solidFill>
              </a:rPr>
              <a:t>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92624" y="48920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스마트 경보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92624" y="54406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A6B"/>
                </a:solidFill>
              </a:rPr>
              <a:t>불균형·과부하·
마감임박 자동 감지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68896" y="4206240"/>
            <a:ext cx="2103120" cy="2377440"/>
          </a:xfrm>
          <a:prstGeom prst="rect">
            <a:avLst/>
          </a:prstGeom>
          <a:solidFill>
            <a:srgbClr val="F0F4F8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0416" y="4343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172A"/>
                </a:solidFill>
              </a:rPr>
              <a:t>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0336" y="48920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PDF 보고서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0336" y="54406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A6B"/>
                </a:solidFill>
              </a:rPr>
              <a:t>교수 제출용
한글 지원 PDF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36608" y="4206240"/>
            <a:ext cx="2103120" cy="2377440"/>
          </a:xfrm>
          <a:prstGeom prst="rect">
            <a:avLst/>
          </a:prstGeom>
          <a:solidFill>
            <a:srgbClr val="F0F4F8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68128" y="4343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172A"/>
                </a:solidFill>
              </a:rPr>
              <a:t>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28048" y="48920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외부 연동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8048" y="54406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A6B"/>
                </a:solidFill>
              </a:rPr>
              <a:t>GitHub·Notion·
Google·Discord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54864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01  프로젝트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A6B"/>
                </a:solidFill>
              </a:rPr>
              <a:t>개발 일정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1430000" cy="60350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2821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4C7"/>
                </a:solidFill>
              </a:rPr>
              <a:t>1~2주차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728216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주제 선정 및 요구사항 분석</a:t>
            </a:r>
          </a:p>
        </p:txBody>
      </p:sp>
      <p:sp>
        <p:nvSpPr>
          <p:cNvPr id="9" name="Oval 8"/>
          <p:cNvSpPr/>
          <p:nvPr/>
        </p:nvSpPr>
        <p:spPr>
          <a:xfrm>
            <a:off x="10332720" y="1746504"/>
            <a:ext cx="1280160" cy="2926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172A"/>
                </a:solidFill>
              </a:rPr>
              <a:t>기획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67712"/>
            <a:ext cx="114300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39572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4C7"/>
                </a:solidFill>
              </a:rPr>
              <a:t>3~4주차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395728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ERD 설계, DB 구축, API 명세 작성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20" y="2414016"/>
            <a:ext cx="1280160" cy="29260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172A"/>
                </a:solidFill>
              </a:rPr>
              <a:t>설계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935224"/>
            <a:ext cx="11430000" cy="60350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06324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4C7"/>
                </a:solidFill>
              </a:rPr>
              <a:t>5~7주차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063240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백엔드 핵심 기능 구현 (인증·점수엔진·태스크)</a:t>
            </a:r>
          </a:p>
        </p:txBody>
      </p:sp>
      <p:sp>
        <p:nvSpPr>
          <p:cNvPr id="17" name="Oval 16"/>
          <p:cNvSpPr/>
          <p:nvPr/>
        </p:nvSpPr>
        <p:spPr>
          <a:xfrm>
            <a:off x="10332720" y="3081528"/>
            <a:ext cx="1280160" cy="29260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172A"/>
                </a:solidFill>
              </a:rPr>
              <a:t>구현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02736"/>
            <a:ext cx="114300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73075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4C7"/>
                </a:solidFill>
              </a:rPr>
              <a:t>8~10주차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3730752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프론트엔드 구현 (대시보드·보드·보고서)</a:t>
            </a:r>
          </a:p>
        </p:txBody>
      </p:sp>
      <p:sp>
        <p:nvSpPr>
          <p:cNvPr id="21" name="Oval 20"/>
          <p:cNvSpPr/>
          <p:nvPr/>
        </p:nvSpPr>
        <p:spPr>
          <a:xfrm>
            <a:off x="10332720" y="3749039"/>
            <a:ext cx="1280160" cy="29260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172A"/>
                </a:solidFill>
              </a:rPr>
              <a:t>구현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270248"/>
            <a:ext cx="11430000" cy="60350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39826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4C7"/>
                </a:solidFill>
              </a:rPr>
              <a:t>11~12주차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4398264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외부 연동 (GitHub·Notion·Google·Discord)</a:t>
            </a:r>
          </a:p>
        </p:txBody>
      </p:sp>
      <p:sp>
        <p:nvSpPr>
          <p:cNvPr id="25" name="Oval 24"/>
          <p:cNvSpPr/>
          <p:nvPr/>
        </p:nvSpPr>
        <p:spPr>
          <a:xfrm>
            <a:off x="10332720" y="4416552"/>
            <a:ext cx="1280160" cy="29260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172A"/>
                </a:solidFill>
              </a:rPr>
              <a:t>연동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937760"/>
            <a:ext cx="114300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06577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4C7"/>
                </a:solidFill>
              </a:rPr>
              <a:t>13~14주차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5065776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AI 분석, 캘린더, 파일 검사 기능 추가</a:t>
            </a:r>
          </a:p>
        </p:txBody>
      </p:sp>
      <p:sp>
        <p:nvSpPr>
          <p:cNvPr id="29" name="Oval 28"/>
          <p:cNvSpPr/>
          <p:nvPr/>
        </p:nvSpPr>
        <p:spPr>
          <a:xfrm>
            <a:off x="10332720" y="5084064"/>
            <a:ext cx="1280160" cy="292608"/>
          </a:xfrm>
          <a:prstGeom prst="ellipse">
            <a:avLst/>
          </a:prstGeom>
          <a:solidFill>
            <a:srgbClr val="FB7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172A"/>
                </a:solidFill>
              </a:rPr>
              <a:t>고도화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605272"/>
            <a:ext cx="11430000" cy="60350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73328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4C7"/>
                </a:solidFill>
              </a:rPr>
              <a:t>15주차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5733288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최종 테스트 및 발표 준비</a:t>
            </a:r>
          </a:p>
        </p:txBody>
      </p:sp>
      <p:sp>
        <p:nvSpPr>
          <p:cNvPr id="33" name="Oval 32"/>
          <p:cNvSpPr/>
          <p:nvPr/>
        </p:nvSpPr>
        <p:spPr>
          <a:xfrm>
            <a:off x="10332720" y="5751576"/>
            <a:ext cx="1280160" cy="29260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172A"/>
                </a:solidFill>
              </a:rPr>
              <a:t>완료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54864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02  프로젝트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A6B"/>
                </a:solidFill>
              </a:rPr>
              <a:t>시스템 아키텍처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920240"/>
            <a:ext cx="1371600" cy="1737360"/>
          </a:xfrm>
          <a:prstGeom prst="rect">
            <a:avLst/>
          </a:prstGeom>
          <a:solidFill>
            <a:srgbClr val="F0F4F8"/>
          </a:solidFill>
          <a:ln w="12700">
            <a:solidFill>
              <a:srgbClr val="38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057400"/>
            <a:ext cx="1280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👤
사용자
브라우저</a:t>
            </a:r>
          </a:p>
        </p:txBody>
      </p:sp>
      <p:sp>
        <p:nvSpPr>
          <p:cNvPr id="8" name="Rectangle 7"/>
          <p:cNvSpPr/>
          <p:nvPr/>
        </p:nvSpPr>
        <p:spPr>
          <a:xfrm>
            <a:off x="1664208" y="2606040"/>
            <a:ext cx="320040" cy="54864"/>
          </a:xfrm>
          <a:prstGeom prst="rect">
            <a:avLst/>
          </a:prstGeom>
          <a:solidFill>
            <a:srgbClr val="4A5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892808" y="2523744"/>
            <a:ext cx="164592" cy="228600"/>
          </a:xfrm>
          <a:prstGeom prst="roundRect">
            <a:avLst/>
          </a:prstGeom>
          <a:solidFill>
            <a:srgbClr val="4A5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72768" y="271576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A7A8A"/>
                </a:solidFill>
              </a:rPr>
              <a:t>HTTPS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1737360"/>
            <a:ext cx="1371600" cy="2103120"/>
          </a:xfrm>
          <a:prstGeom prst="rect">
            <a:avLst/>
          </a:prstGeom>
          <a:solidFill>
            <a:srgbClr val="DCFBE8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11680" y="1737360"/>
            <a:ext cx="137160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21408" y="1828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🔀 Nginx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1408" y="21945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A6B"/>
                </a:solidFill>
              </a:rPr>
              <a:t>Reverse Proxy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21408" y="254203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A6B"/>
                </a:solidFill>
              </a:rPr>
              <a:t>80 → 3000/8080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288950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A6B"/>
                </a:solidFill>
              </a:rPr>
              <a:t>정적 파일 서빙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2606040"/>
            <a:ext cx="320040" cy="54864"/>
          </a:xfrm>
          <a:prstGeom prst="rect">
            <a:avLst/>
          </a:prstGeom>
          <a:solidFill>
            <a:srgbClr val="4A5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30168" y="2523744"/>
            <a:ext cx="164592" cy="228600"/>
          </a:xfrm>
          <a:prstGeom prst="roundRect">
            <a:avLst/>
          </a:prstGeom>
          <a:solidFill>
            <a:srgbClr val="4A5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49039" y="1737360"/>
            <a:ext cx="2103120" cy="2103120"/>
          </a:xfrm>
          <a:prstGeom prst="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49039" y="1737360"/>
            <a:ext cx="21031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58768" y="182880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🌐 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58768" y="219456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A6B"/>
                </a:solidFill>
              </a:rPr>
              <a:t>Next.js 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58768" y="2542032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A6B"/>
                </a:solidFill>
              </a:rPr>
              <a:t>App Router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58768" y="2889504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A6B"/>
                </a:solidFill>
              </a:rPr>
              <a:t>TypeScript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58768" y="3236976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A6B"/>
                </a:solidFill>
              </a:rPr>
              <a:t>Tailwind CSS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70448" y="2606040"/>
            <a:ext cx="320040" cy="54864"/>
          </a:xfrm>
          <a:prstGeom prst="rect">
            <a:avLst/>
          </a:prstGeom>
          <a:solidFill>
            <a:srgbClr val="4A5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099048" y="2523744"/>
            <a:ext cx="164592" cy="228600"/>
          </a:xfrm>
          <a:prstGeom prst="roundRect">
            <a:avLst/>
          </a:prstGeom>
          <a:solidFill>
            <a:srgbClr val="4A5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79008" y="271576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A7A8A"/>
                </a:solidFill>
              </a:rPr>
              <a:t>REST API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1737360"/>
            <a:ext cx="2286000" cy="210312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1737360"/>
            <a:ext cx="228600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8" y="1828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⚙️ Backend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21945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A6B"/>
                </a:solidFill>
              </a:rPr>
              <a:t>Spring Boot 3.x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25420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A6B"/>
                </a:solidFill>
              </a:rPr>
              <a:t>Java 21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288950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A6B"/>
                </a:solidFill>
              </a:rPr>
              <a:t>Spring Security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323697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A6B"/>
                </a:solidFill>
              </a:rPr>
              <a:t>JWT Auth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22208" y="2606040"/>
            <a:ext cx="320040" cy="54864"/>
          </a:xfrm>
          <a:prstGeom prst="rect">
            <a:avLst/>
          </a:prstGeom>
          <a:solidFill>
            <a:srgbClr val="4A5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750808" y="2523744"/>
            <a:ext cx="164592" cy="228600"/>
          </a:xfrm>
          <a:prstGeom prst="roundRect">
            <a:avLst/>
          </a:prstGeom>
          <a:solidFill>
            <a:srgbClr val="4A5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30768" y="271576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A7A8A"/>
                </a:solidFill>
              </a:rPr>
              <a:t>JDBC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69680" y="1737360"/>
            <a:ext cx="1828800" cy="2103120"/>
          </a:xfrm>
          <a:prstGeom prst="rect">
            <a:avLst/>
          </a:prstGeom>
          <a:solidFill>
            <a:srgbClr val="F3E8FF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869680" y="1737360"/>
            <a:ext cx="182880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79407" y="1828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🗄️ Database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79407" y="21945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A6B"/>
                </a:solidFill>
              </a:rPr>
              <a:t>PostgreSQL 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79407" y="25420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A6B"/>
                </a:solidFill>
              </a:rPr>
              <a:t>Flyway Migration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79407" y="288950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A6B"/>
                </a:solidFill>
              </a:rPr>
              <a:t>21개 테이블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005072"/>
            <a:ext cx="10424160" cy="54864"/>
          </a:xfrm>
          <a:prstGeom prst="rect">
            <a:avLst/>
          </a:prstGeom>
          <a:solidFill>
            <a:srgbClr val="05966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74320" y="4059936"/>
            <a:ext cx="10424160" cy="1005840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4133087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</a:rPr>
              <a:t>🐳  Docker Compose  —  컨테이너 오케스트레이션  |  Volume 마운트  |  환경변수 관리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4480560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</a:rPr>
              <a:t>blackbox-nginx    blackbox-frontend    blackbox-backend    blackbox-db    (공유 네트워크: blackbox-net)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61320" y="16002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4C7"/>
                </a:solidFill>
              </a:rPr>
              <a:t>외부 서비스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561320" y="1920240"/>
            <a:ext cx="1508760" cy="749808"/>
          </a:xfrm>
          <a:prstGeom prst="rect">
            <a:avLst/>
          </a:prstGeom>
          <a:solidFill>
            <a:srgbClr val="E8EBEF"/>
          </a:solidFill>
          <a:ln w="12700">
            <a:solidFill>
              <a:srgbClr val="3A4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625328" y="197510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</a:rPr>
              <a:t>🐙 GitHub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25328" y="230428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75A6B"/>
                </a:solidFill>
              </a:rPr>
              <a:t>OAuth·Webhook·REST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698480" y="2240280"/>
            <a:ext cx="1417320" cy="27432"/>
          </a:xfrm>
          <a:prstGeom prst="rect">
            <a:avLst/>
          </a:prstGeom>
          <a:solidFill>
            <a:srgbClr val="3A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561320" y="2798064"/>
            <a:ext cx="1508760" cy="749808"/>
          </a:xfrm>
          <a:prstGeom prst="rect">
            <a:avLst/>
          </a:prstGeom>
          <a:solidFill>
            <a:srgbClr val="F5F5F3"/>
          </a:solidFill>
          <a:ln w="12700">
            <a:solidFill>
              <a:srgbClr val="3A4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625328" y="28529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</a:rPr>
              <a:t>📝 Notion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25328" y="31821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75A6B"/>
                </a:solidFill>
              </a:rPr>
              <a:t>Integration Token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698480" y="3118104"/>
            <a:ext cx="1417320" cy="27432"/>
          </a:xfrm>
          <a:prstGeom prst="rect">
            <a:avLst/>
          </a:prstGeom>
          <a:solidFill>
            <a:srgbClr val="3A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561320" y="3675887"/>
            <a:ext cx="1508760" cy="749808"/>
          </a:xfrm>
          <a:prstGeom prst="rect">
            <a:avLst/>
          </a:prstGeom>
          <a:solidFill>
            <a:srgbClr val="E8EFF5"/>
          </a:solidFill>
          <a:ln w="12700">
            <a:solidFill>
              <a:srgbClr val="3A4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625328" y="3730751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</a:rPr>
              <a:t>📊 Google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25328" y="4059935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75A6B"/>
                </a:solidFill>
              </a:rPr>
              <a:t>OAuth·Drive·Docs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698480" y="3995927"/>
            <a:ext cx="1417320" cy="27432"/>
          </a:xfrm>
          <a:prstGeom prst="rect">
            <a:avLst/>
          </a:prstGeom>
          <a:solidFill>
            <a:srgbClr val="3A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561320" y="4553712"/>
            <a:ext cx="1508760" cy="749808"/>
          </a:xfrm>
          <a:prstGeom prst="rect">
            <a:avLst/>
          </a:prstGeom>
          <a:solidFill>
            <a:srgbClr val="E9E9FF"/>
          </a:solidFill>
          <a:ln w="12700">
            <a:solidFill>
              <a:srgbClr val="3A4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625328" y="460857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</a:rPr>
              <a:t>💬 Discord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625328" y="49377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75A6B"/>
                </a:solidFill>
              </a:rPr>
              <a:t>Webhook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698480" y="4873752"/>
            <a:ext cx="1417320" cy="27432"/>
          </a:xfrm>
          <a:prstGeom prst="rect">
            <a:avLst/>
          </a:prstGeom>
          <a:solidFill>
            <a:srgbClr val="3A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561320" y="5431536"/>
            <a:ext cx="1508760" cy="749808"/>
          </a:xfrm>
          <a:prstGeom prst="rect">
            <a:avLst/>
          </a:prstGeom>
          <a:solidFill>
            <a:srgbClr val="DCFBE8"/>
          </a:solidFill>
          <a:ln w="12700">
            <a:solidFill>
              <a:srgbClr val="3A4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625328" y="5486399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</a:rPr>
              <a:t>🤖 OpenAI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25328" y="5815583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75A6B"/>
                </a:solidFill>
              </a:rPr>
              <a:t>GPT-4.1-nano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698480" y="5751575"/>
            <a:ext cx="1417320" cy="27432"/>
          </a:xfrm>
          <a:prstGeom prst="rect">
            <a:avLst/>
          </a:prstGeom>
          <a:solidFill>
            <a:srgbClr val="3A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54864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02  프로젝트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A6B"/>
                </a:solidFill>
              </a:rPr>
              <a:t>데이터베이스 설계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84C7"/>
                </a:solidFill>
              </a:rPr>
              <a:t>총 21개 테이블  (Flyway V1~V21 마이그레이션)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</a:rPr>
              <a:t>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사용자 (Google OAuth)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7860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A6B"/>
                </a:solidFill>
              </a:rPr>
              <a:t>id, name, email, role, picture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0040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2461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</a:rPr>
              <a:t>activity_logs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2044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활동 로그 (기여도 원천)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673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A6B"/>
                </a:solidFill>
              </a:rPr>
              <a:t>id, project_id, user_id, event_type, score_weight, payload(JSONB)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38912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4348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</a:rPr>
              <a:t>file_vaults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70916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파일 검사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9560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A6B"/>
                </a:solidFill>
              </a:rPr>
              <a:t>id, project_id, file_name, sha256_hash, version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57784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6235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</a:rPr>
              <a:t>alerts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89788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경보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1447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A6B"/>
                </a:solidFill>
              </a:rPr>
              <a:t>id, project_id, alert_type, severity, is_resolved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201168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20574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</a:rPr>
              <a:t>projects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23317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프로젝트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257860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A6B"/>
                </a:solidFill>
              </a:rPr>
              <a:t>id, name, description, is_archived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320040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32461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</a:rPr>
              <a:t>tasks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352044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태스크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37673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A6B"/>
                </a:solidFill>
              </a:rPr>
              <a:t>id, project_id, title, status, priority, due_date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438912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34840" y="44348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</a:rPr>
              <a:t>github_installations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470916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GitHub 연동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49560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A6B"/>
                </a:solidFill>
              </a:rPr>
              <a:t>id, project_id, repo_full_name, token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557784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56235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</a:rPr>
              <a:t>project_alert_config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589788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경보 설정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61447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A6B"/>
                </a:solidFill>
              </a:rPr>
              <a:t>id, project_id, deadline_days, discord_webhook_url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201168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60" y="20574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</a:rPr>
              <a:t>project_members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23317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프로젝트 멤버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257860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A6B"/>
                </a:solidFill>
              </a:rPr>
              <a:t>project_id, user_id, role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320040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66760" y="32461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</a:rPr>
              <a:t>meetings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352044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회의록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37673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A6B"/>
                </a:solidFill>
              </a:rPr>
              <a:t>id, project_id, title, meeting_at, notes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438912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66760" y="44348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</a:rPr>
              <a:t>github_user_mappings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470916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GitHub 계정 매핑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49560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A6B"/>
                </a:solidFill>
              </a:rPr>
              <a:t>id, project_id, user_id, github_username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0" y="557784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66760" y="56235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</a:rPr>
              <a:t>ai_analysis_results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66760" y="589788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AI 분석 캐시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61447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A6B"/>
                </a:solidFill>
              </a:rPr>
              <a:t>id, project_id, analysis_type, result, created_at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54864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02  프로젝트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A6B"/>
                </a:solidFill>
              </a:rPr>
              <a:t>스토리보드 — 주요 화면 이동 경로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72768"/>
            <a:ext cx="237744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572768"/>
            <a:ext cx="2377440" cy="3200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93192" y="1627632"/>
            <a:ext cx="237744" cy="20116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627632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로그인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" y="1965960"/>
            <a:ext cx="2157984" cy="9601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011680"/>
            <a:ext cx="2057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A6B"/>
                </a:solidFill>
              </a:rPr>
              <a:t>Google 소셜 로그인
JWT 토큰 발급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99008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A5A6A"/>
                </a:solidFill>
              </a:rPr>
              <a:t>/로그인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24912" y="2286000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A5A6A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72968" y="1572768"/>
            <a:ext cx="237744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72968" y="1572768"/>
            <a:ext cx="2377440" cy="3200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46120" y="1627632"/>
            <a:ext cx="237744" cy="20116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1627632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프로젝트 목록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82696" y="1965960"/>
            <a:ext cx="2157984" cy="9601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2011680"/>
            <a:ext cx="2057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A6B"/>
                </a:solidFill>
              </a:rPr>
              <a:t>내 프로젝트 카드
새 프로젝트 생성 버튼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82696" y="299008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A5A6A"/>
                </a:solidFill>
              </a:rPr>
              <a:t>/프로젝트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2286000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A5A6A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25896" y="1572768"/>
            <a:ext cx="237744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25896" y="1572768"/>
            <a:ext cx="2377440" cy="3200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99048" y="1627632"/>
            <a:ext cx="237744" cy="20116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1627632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프로젝트 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35624" y="1965960"/>
            <a:ext cx="2157984" cy="9601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0488" y="2011680"/>
            <a:ext cx="2057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A6B"/>
                </a:solidFill>
              </a:rPr>
              <a:t>팀원 목록·역할
아카이브 / 설정 이동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35624" y="299008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A5A6A"/>
                </a:solidFill>
              </a:rPr>
              <a:t>/프로젝트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7" y="2286000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A5A6A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78824" y="1572768"/>
            <a:ext cx="237744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78824" y="1572768"/>
            <a:ext cx="2377440" cy="3200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951976" y="1627632"/>
            <a:ext cx="237744" cy="20116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26296" y="1627632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기여도 대시보드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88551" y="1965960"/>
            <a:ext cx="2157984" cy="9601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43415" y="2011680"/>
            <a:ext cx="2057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A6B"/>
                </a:solidFill>
              </a:rPr>
              <a:t>점수 차트·경보 현황
PDF 보고서 다운로드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88551" y="299008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A5A6A"/>
                </a:solidFill>
              </a:rPr>
              <a:t>/기여도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21240" y="3383280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A5A6A"/>
                </a:solidFill>
              </a:rPr>
              <a:t>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3931920"/>
            <a:ext cx="237744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B7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040" y="3931920"/>
            <a:ext cx="2377440" cy="320040"/>
          </a:xfrm>
          <a:prstGeom prst="rect">
            <a:avLst/>
          </a:prstGeom>
          <a:solidFill>
            <a:srgbClr val="FB7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93192" y="3986783"/>
            <a:ext cx="237744" cy="20116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" y="3986783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태스크 보드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9768" y="4325112"/>
            <a:ext cx="2157984" cy="9601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4632" y="4370831"/>
            <a:ext cx="2057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A6B"/>
                </a:solidFill>
              </a:rPr>
              <a:t>Kanban 보드
우선순위별 색 구분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" y="53492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A5A6A"/>
                </a:solidFill>
              </a:rPr>
              <a:t>/태스크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24912" y="464515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A5A6A"/>
                </a:solidFill>
              </a:rP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72968" y="3931920"/>
            <a:ext cx="237744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172968" y="3931920"/>
            <a:ext cx="2377440" cy="320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246120" y="3986783"/>
            <a:ext cx="237744" cy="20116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20440" y="3986783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캘린더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82696" y="4325112"/>
            <a:ext cx="2157984" cy="9601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37560" y="4370831"/>
            <a:ext cx="2057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A6B"/>
                </a:solidFill>
              </a:rPr>
              <a:t>월별 그리드 뷰
태스크·회의 일정 표시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82696" y="53492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A5A6A"/>
                </a:solidFill>
              </a:rPr>
              <a:t>/캘린더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77840" y="464515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A5A6A"/>
                </a:solidFill>
              </a:rPr>
              <a:t>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25896" y="3931920"/>
            <a:ext cx="237744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025896" y="3931920"/>
            <a:ext cx="237744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099048" y="3986783"/>
            <a:ext cx="237744" cy="20116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73368" y="3986783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AI 분석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35624" y="4325112"/>
            <a:ext cx="2157984" cy="9601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90488" y="4370831"/>
            <a:ext cx="2057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A6B"/>
                </a:solidFill>
              </a:rPr>
              <a:t>팀 역량 진단
커밋 품질 점수화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35624" y="53492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A5A6A"/>
                </a:solidFill>
              </a:rPr>
              <a:t>/ai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30767" y="4645152"/>
            <a:ext cx="2926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A5A6A"/>
                </a:solidFill>
              </a:rPr>
              <a:t>→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878824" y="3931920"/>
            <a:ext cx="237744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878824" y="3931920"/>
            <a:ext cx="2377440" cy="32004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951976" y="3986783"/>
            <a:ext cx="237744" cy="201168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⑧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26296" y="3986783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설정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88551" y="4325112"/>
            <a:ext cx="2157984" cy="9601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043415" y="4370831"/>
            <a:ext cx="2057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A6B"/>
                </a:solidFill>
              </a:rPr>
              <a:t>GitHub·Notion·Google
Discord Webhook 연동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88551" y="53492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A5A6A"/>
                </a:solidFill>
              </a:rPr>
              <a:t>/설정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0040" y="59893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75A6B"/>
                </a:solidFill>
              </a:rPr>
              <a:t>※ ②~④ 는 상단 네비게이션 탭으로 언제든 이동 가능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54864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02  프로젝트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A6B"/>
                </a:solidFill>
              </a:rPr>
              <a:t>유스케이스 다이어그램</a:t>
            </a:r>
          </a:p>
        </p:txBody>
      </p:sp>
      <p:sp>
        <p:nvSpPr>
          <p:cNvPr id="6" name="Rectangle 5"/>
          <p:cNvSpPr/>
          <p:nvPr/>
        </p:nvSpPr>
        <p:spPr>
          <a:xfrm>
            <a:off x="1554480" y="1572768"/>
            <a:ext cx="8732520" cy="5029200"/>
          </a:xfrm>
          <a:prstGeom prst="rect">
            <a:avLst/>
          </a:prstGeom>
          <a:solidFill>
            <a:srgbClr val="F8FAFC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159105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4C7"/>
                </a:solidFill>
              </a:rPr>
              <a:t>《 Blackbox 시스템 》</a:t>
            </a:r>
          </a:p>
        </p:txBody>
      </p:sp>
      <p:sp>
        <p:nvSpPr>
          <p:cNvPr id="8" name="Rectangle 7"/>
          <p:cNvSpPr/>
          <p:nvPr/>
        </p:nvSpPr>
        <p:spPr>
          <a:xfrm>
            <a:off x="1664208" y="1810512"/>
            <a:ext cx="2651760" cy="4663440"/>
          </a:xfrm>
          <a:prstGeom prst="rect">
            <a:avLst/>
          </a:prstGeom>
          <a:solidFill>
            <a:srgbClr val="EEFBF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55648" y="1847088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1">
                <a:solidFill>
                  <a:srgbClr val="059669"/>
                </a:solidFill>
              </a:rPr>
              <a:t>인증 · 프로젝트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810512"/>
            <a:ext cx="2651760" cy="4663440"/>
          </a:xfrm>
          <a:prstGeom prst="rect">
            <a:avLst/>
          </a:prstGeom>
          <a:solidFill>
            <a:srgbClr val="E0F2FE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79" y="1847088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1">
                <a:solidFill>
                  <a:srgbClr val="0284C7"/>
                </a:solidFill>
              </a:rPr>
              <a:t>활동 관리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5472" y="1810512"/>
            <a:ext cx="2926080" cy="4663440"/>
          </a:xfrm>
          <a:prstGeom prst="rect">
            <a:avLst/>
          </a:prstGeom>
          <a:solidFill>
            <a:srgbClr val="F3E8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1847088"/>
            <a:ext cx="2788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1">
                <a:solidFill>
                  <a:srgbClr val="A78BFA"/>
                </a:solidFill>
              </a:rPr>
              <a:t>분석 · 보고서</a:t>
            </a:r>
          </a:p>
        </p:txBody>
      </p:sp>
      <p:sp>
        <p:nvSpPr>
          <p:cNvPr id="14" name="Oval 13"/>
          <p:cNvSpPr/>
          <p:nvPr/>
        </p:nvSpPr>
        <p:spPr>
          <a:xfrm>
            <a:off x="1719072" y="2084831"/>
            <a:ext cx="2514600" cy="658368"/>
          </a:xfrm>
          <a:prstGeom prst="ellipse">
            <a:avLst/>
          </a:prstGeom>
          <a:solidFill>
            <a:srgbClr val="F0F8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59669"/>
                </a:solidFill>
              </a:rPr>
              <a:t>Google 로그인</a:t>
            </a:r>
          </a:p>
        </p:txBody>
      </p:sp>
      <p:sp>
        <p:nvSpPr>
          <p:cNvPr id="15" name="Oval 14"/>
          <p:cNvSpPr/>
          <p:nvPr/>
        </p:nvSpPr>
        <p:spPr>
          <a:xfrm>
            <a:off x="1719072" y="2907791"/>
            <a:ext cx="2514600" cy="658368"/>
          </a:xfrm>
          <a:prstGeom prst="ellipse">
            <a:avLst/>
          </a:prstGeom>
          <a:solidFill>
            <a:srgbClr val="F0F8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59669"/>
                </a:solidFill>
              </a:rPr>
              <a:t>프로젝트 생성</a:t>
            </a:r>
          </a:p>
        </p:txBody>
      </p:sp>
      <p:sp>
        <p:nvSpPr>
          <p:cNvPr id="16" name="Oval 15"/>
          <p:cNvSpPr/>
          <p:nvPr/>
        </p:nvSpPr>
        <p:spPr>
          <a:xfrm>
            <a:off x="1719072" y="3730752"/>
            <a:ext cx="2514600" cy="658368"/>
          </a:xfrm>
          <a:prstGeom prst="ellipse">
            <a:avLst/>
          </a:prstGeom>
          <a:solidFill>
            <a:srgbClr val="F0F8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59669"/>
                </a:solidFill>
              </a:rPr>
              <a:t>프로젝트 참여</a:t>
            </a:r>
          </a:p>
        </p:txBody>
      </p:sp>
      <p:sp>
        <p:nvSpPr>
          <p:cNvPr id="17" name="Oval 16"/>
          <p:cNvSpPr/>
          <p:nvPr/>
        </p:nvSpPr>
        <p:spPr>
          <a:xfrm>
            <a:off x="1719072" y="4553712"/>
            <a:ext cx="2514600" cy="658368"/>
          </a:xfrm>
          <a:prstGeom prst="ellipse">
            <a:avLst/>
          </a:prstGeom>
          <a:solidFill>
            <a:srgbClr val="F0F8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59E0B"/>
                </a:solidFill>
              </a:rPr>
              <a:t>멤버 역할 변경</a:t>
            </a:r>
          </a:p>
        </p:txBody>
      </p:sp>
      <p:sp>
        <p:nvSpPr>
          <p:cNvPr id="18" name="Oval 17"/>
          <p:cNvSpPr/>
          <p:nvPr/>
        </p:nvSpPr>
        <p:spPr>
          <a:xfrm>
            <a:off x="1719072" y="5376672"/>
            <a:ext cx="2514600" cy="658368"/>
          </a:xfrm>
          <a:prstGeom prst="ellipse">
            <a:avLst/>
          </a:prstGeom>
          <a:solidFill>
            <a:srgbClr val="F0F8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59E0B"/>
                </a:solidFill>
              </a:rPr>
              <a:t>프로젝트 아카이브</a:t>
            </a:r>
          </a:p>
        </p:txBody>
      </p:sp>
      <p:sp>
        <p:nvSpPr>
          <p:cNvPr id="19" name="Oval 18"/>
          <p:cNvSpPr/>
          <p:nvPr/>
        </p:nvSpPr>
        <p:spPr>
          <a:xfrm>
            <a:off x="4498848" y="2084831"/>
            <a:ext cx="2514600" cy="658368"/>
          </a:xfrm>
          <a:prstGeom prst="ellipse">
            <a:avLst/>
          </a:prstGeom>
          <a:solidFill>
            <a:srgbClr val="F0F8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284C7"/>
                </a:solidFill>
              </a:rPr>
              <a:t>태스크 관리</a:t>
            </a:r>
          </a:p>
        </p:txBody>
      </p:sp>
      <p:sp>
        <p:nvSpPr>
          <p:cNvPr id="20" name="Oval 19"/>
          <p:cNvSpPr/>
          <p:nvPr/>
        </p:nvSpPr>
        <p:spPr>
          <a:xfrm>
            <a:off x="4498848" y="2907791"/>
            <a:ext cx="2514600" cy="658368"/>
          </a:xfrm>
          <a:prstGeom prst="ellipse">
            <a:avLst/>
          </a:prstGeom>
          <a:solidFill>
            <a:srgbClr val="F0F8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284C7"/>
                </a:solidFill>
              </a:rPr>
              <a:t>회의록 작성</a:t>
            </a:r>
          </a:p>
        </p:txBody>
      </p:sp>
      <p:sp>
        <p:nvSpPr>
          <p:cNvPr id="21" name="Oval 20"/>
          <p:cNvSpPr/>
          <p:nvPr/>
        </p:nvSpPr>
        <p:spPr>
          <a:xfrm>
            <a:off x="4498848" y="3730752"/>
            <a:ext cx="2514600" cy="658368"/>
          </a:xfrm>
          <a:prstGeom prst="ellipse">
            <a:avLst/>
          </a:prstGeom>
          <a:solidFill>
            <a:srgbClr val="F0F8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284C7"/>
                </a:solidFill>
              </a:rPr>
              <a:t>파일 업로드·검증</a:t>
            </a:r>
          </a:p>
        </p:txBody>
      </p:sp>
      <p:sp>
        <p:nvSpPr>
          <p:cNvPr id="22" name="Oval 21"/>
          <p:cNvSpPr/>
          <p:nvPr/>
        </p:nvSpPr>
        <p:spPr>
          <a:xfrm>
            <a:off x="4498848" y="4553712"/>
            <a:ext cx="2514600" cy="658368"/>
          </a:xfrm>
          <a:prstGeom prst="ellipse">
            <a:avLst/>
          </a:prstGeom>
          <a:solidFill>
            <a:srgbClr val="F0F8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284C7"/>
                </a:solidFill>
              </a:rPr>
              <a:t>캘린더 일정 등록</a:t>
            </a:r>
          </a:p>
        </p:txBody>
      </p:sp>
      <p:sp>
        <p:nvSpPr>
          <p:cNvPr id="23" name="Oval 22"/>
          <p:cNvSpPr/>
          <p:nvPr/>
        </p:nvSpPr>
        <p:spPr>
          <a:xfrm>
            <a:off x="4498848" y="5376672"/>
            <a:ext cx="2514600" cy="658368"/>
          </a:xfrm>
          <a:prstGeom prst="ellipse">
            <a:avLst/>
          </a:prstGeom>
          <a:solidFill>
            <a:srgbClr val="F0F8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284C7"/>
                </a:solidFill>
              </a:rPr>
              <a:t>기여도 점수 조회</a:t>
            </a:r>
          </a:p>
        </p:txBody>
      </p:sp>
      <p:sp>
        <p:nvSpPr>
          <p:cNvPr id="24" name="Oval 23"/>
          <p:cNvSpPr/>
          <p:nvPr/>
        </p:nvSpPr>
        <p:spPr>
          <a:xfrm>
            <a:off x="7269480" y="2084831"/>
            <a:ext cx="2788920" cy="658368"/>
          </a:xfrm>
          <a:prstGeom prst="ellipse">
            <a:avLst/>
          </a:prstGeom>
          <a:solidFill>
            <a:srgbClr val="F0F8FF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A78BFA"/>
                </a:solidFill>
              </a:rPr>
              <a:t>AI 팀 분석</a:t>
            </a:r>
          </a:p>
        </p:txBody>
      </p:sp>
      <p:sp>
        <p:nvSpPr>
          <p:cNvPr id="25" name="Oval 24"/>
          <p:cNvSpPr/>
          <p:nvPr/>
        </p:nvSpPr>
        <p:spPr>
          <a:xfrm>
            <a:off x="7269480" y="2907791"/>
            <a:ext cx="2788920" cy="658368"/>
          </a:xfrm>
          <a:prstGeom prst="ellipse">
            <a:avLst/>
          </a:prstGeom>
          <a:solidFill>
            <a:srgbClr val="F0F8FF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A78BFA"/>
                </a:solidFill>
              </a:rPr>
              <a:t>커밋 품질 분석</a:t>
            </a:r>
          </a:p>
        </p:txBody>
      </p:sp>
      <p:sp>
        <p:nvSpPr>
          <p:cNvPr id="26" name="Oval 25"/>
          <p:cNvSpPr/>
          <p:nvPr/>
        </p:nvSpPr>
        <p:spPr>
          <a:xfrm>
            <a:off x="7269480" y="3730752"/>
            <a:ext cx="2788920" cy="658368"/>
          </a:xfrm>
          <a:prstGeom prst="ellipse">
            <a:avLst/>
          </a:prstGeom>
          <a:solidFill>
            <a:srgbClr val="F0F8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EF4444"/>
                </a:solidFill>
              </a:rPr>
              <a:t>경보 확인·설정</a:t>
            </a:r>
          </a:p>
        </p:txBody>
      </p:sp>
      <p:sp>
        <p:nvSpPr>
          <p:cNvPr id="27" name="Oval 26"/>
          <p:cNvSpPr/>
          <p:nvPr/>
        </p:nvSpPr>
        <p:spPr>
          <a:xfrm>
            <a:off x="7269480" y="4553712"/>
            <a:ext cx="2788920" cy="658368"/>
          </a:xfrm>
          <a:prstGeom prst="ellipse">
            <a:avLst/>
          </a:prstGeom>
          <a:solidFill>
            <a:srgbClr val="F0F8FF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34D399"/>
                </a:solidFill>
              </a:rPr>
              <a:t>PDF 보고서 출력</a:t>
            </a:r>
          </a:p>
        </p:txBody>
      </p:sp>
      <p:sp>
        <p:nvSpPr>
          <p:cNvPr id="28" name="Oval 27"/>
          <p:cNvSpPr/>
          <p:nvPr/>
        </p:nvSpPr>
        <p:spPr>
          <a:xfrm>
            <a:off x="7269480" y="5376672"/>
            <a:ext cx="2788920" cy="658368"/>
          </a:xfrm>
          <a:prstGeom prst="ellipse">
            <a:avLst/>
          </a:prstGeom>
          <a:solidFill>
            <a:srgbClr val="F0F8FF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34D399"/>
                </a:solidFill>
              </a:rPr>
              <a:t>외부 서비스 연동</a:t>
            </a:r>
          </a:p>
        </p:txBody>
      </p:sp>
      <p:sp>
        <p:nvSpPr>
          <p:cNvPr id="29" name="Oval 28"/>
          <p:cNvSpPr/>
          <p:nvPr/>
        </p:nvSpPr>
        <p:spPr>
          <a:xfrm>
            <a:off x="137160" y="2148840"/>
            <a:ext cx="1280160" cy="914400"/>
          </a:xfrm>
          <a:prstGeom prst="ellipse">
            <a:avLst/>
          </a:prstGeom>
          <a:solidFill>
            <a:srgbClr val="F0F8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" y="219456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284C7"/>
                </a:solidFill>
              </a:rPr>
              <a:t>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" y="26974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284C7"/>
                </a:solidFill>
              </a:rPr>
              <a:t>팀원 (학생)</a:t>
            </a:r>
          </a:p>
        </p:txBody>
      </p:sp>
      <p:sp>
        <p:nvSpPr>
          <p:cNvPr id="32" name="Oval 31"/>
          <p:cNvSpPr/>
          <p:nvPr/>
        </p:nvSpPr>
        <p:spPr>
          <a:xfrm>
            <a:off x="137160" y="3794760"/>
            <a:ext cx="1280160" cy="914400"/>
          </a:xfrm>
          <a:prstGeom prst="ellipse">
            <a:avLst/>
          </a:prstGeom>
          <a:solidFill>
            <a:srgbClr val="F0F8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" y="384048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59E0B"/>
                </a:solidFill>
              </a:rPr>
              <a:t>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" y="43434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</a:rPr>
              <a:t>팀장</a:t>
            </a:r>
          </a:p>
        </p:txBody>
      </p:sp>
      <p:sp>
        <p:nvSpPr>
          <p:cNvPr id="35" name="Oval 34"/>
          <p:cNvSpPr/>
          <p:nvPr/>
        </p:nvSpPr>
        <p:spPr>
          <a:xfrm>
            <a:off x="10424160" y="2148840"/>
            <a:ext cx="1280160" cy="914400"/>
          </a:xfrm>
          <a:prstGeom prst="ellipse">
            <a:avLst/>
          </a:prstGeom>
          <a:solidFill>
            <a:srgbClr val="F0F8FF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863072" y="219456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78BFA"/>
                </a:solidFill>
              </a:rPr>
              <a:t>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26974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78BFA"/>
                </a:solidFill>
              </a:rPr>
              <a:t>교수 / TA</a:t>
            </a:r>
          </a:p>
        </p:txBody>
      </p:sp>
      <p:sp>
        <p:nvSpPr>
          <p:cNvPr id="38" name="Oval 37"/>
          <p:cNvSpPr/>
          <p:nvPr/>
        </p:nvSpPr>
        <p:spPr>
          <a:xfrm>
            <a:off x="10424160" y="3794760"/>
            <a:ext cx="1280160" cy="914400"/>
          </a:xfrm>
          <a:prstGeom prst="ellipse">
            <a:avLst/>
          </a:prstGeom>
          <a:solidFill>
            <a:srgbClr val="F0F8FF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863072" y="384048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4D399"/>
                </a:solidFill>
              </a:rPr>
              <a:t>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60" y="43434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4D399"/>
                </a:solidFill>
              </a:rPr>
              <a:t>외부 시스템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17320" y="2414016"/>
            <a:ext cx="301751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417320" y="3236976"/>
            <a:ext cx="301751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417320" y="4059936"/>
            <a:ext cx="301751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417320" y="4882896"/>
            <a:ext cx="3081528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417320" y="5705856"/>
            <a:ext cx="3081528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417320" y="4197096"/>
            <a:ext cx="301751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417320" y="5020056"/>
            <a:ext cx="301751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058400" y="2414016"/>
            <a:ext cx="365760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058400" y="3236976"/>
            <a:ext cx="365760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058400" y="4059936"/>
            <a:ext cx="36576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058400" y="4882896"/>
            <a:ext cx="36576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554480" y="6510528"/>
            <a:ext cx="164592" cy="146304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755648" y="649224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A6B"/>
                </a:solidFill>
              </a:rPr>
              <a:t>인증·프로젝트</a:t>
            </a:r>
          </a:p>
        </p:txBody>
      </p:sp>
      <p:sp>
        <p:nvSpPr>
          <p:cNvPr id="54" name="Oval 53"/>
          <p:cNvSpPr/>
          <p:nvPr/>
        </p:nvSpPr>
        <p:spPr>
          <a:xfrm>
            <a:off x="3291839" y="6510528"/>
            <a:ext cx="164592" cy="146304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93008" y="649224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A6B"/>
                </a:solidFill>
              </a:rPr>
              <a:t>활동 관리</a:t>
            </a:r>
          </a:p>
        </p:txBody>
      </p:sp>
      <p:sp>
        <p:nvSpPr>
          <p:cNvPr id="56" name="Oval 55"/>
          <p:cNvSpPr/>
          <p:nvPr/>
        </p:nvSpPr>
        <p:spPr>
          <a:xfrm>
            <a:off x="5029200" y="6510528"/>
            <a:ext cx="164592" cy="146304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230368" y="649224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A6B"/>
                </a:solidFill>
              </a:rPr>
              <a:t>AI 분석</a:t>
            </a:r>
          </a:p>
        </p:txBody>
      </p:sp>
      <p:sp>
        <p:nvSpPr>
          <p:cNvPr id="58" name="Oval 57"/>
          <p:cNvSpPr/>
          <p:nvPr/>
        </p:nvSpPr>
        <p:spPr>
          <a:xfrm>
            <a:off x="6766559" y="6510528"/>
            <a:ext cx="164592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67727" y="649224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A6B"/>
                </a:solidFill>
              </a:rPr>
              <a:t>팀장 전용</a:t>
            </a:r>
          </a:p>
        </p:txBody>
      </p:sp>
      <p:sp>
        <p:nvSpPr>
          <p:cNvPr id="60" name="Oval 59"/>
          <p:cNvSpPr/>
          <p:nvPr/>
        </p:nvSpPr>
        <p:spPr>
          <a:xfrm>
            <a:off x="8503919" y="6510528"/>
            <a:ext cx="164592" cy="14630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05088" y="649224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A6B"/>
                </a:solidFill>
              </a:rPr>
              <a:t>경보</a:t>
            </a:r>
          </a:p>
        </p:txBody>
      </p:sp>
      <p:sp>
        <p:nvSpPr>
          <p:cNvPr id="62" name="Oval 61"/>
          <p:cNvSpPr/>
          <p:nvPr/>
        </p:nvSpPr>
        <p:spPr>
          <a:xfrm>
            <a:off x="10241280" y="6510528"/>
            <a:ext cx="164592" cy="146304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442448" y="649224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A6B"/>
                </a:solidFill>
              </a:rPr>
              <a:t>보고서·연동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54864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02  프로젝트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A6B"/>
                </a:solidFill>
              </a:rPr>
              <a:t>화면 설계 — 핵심 화면 소개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27632"/>
            <a:ext cx="548640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38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27632"/>
            <a:ext cx="5486400" cy="274320"/>
          </a:xfrm>
          <a:prstGeom prst="rect">
            <a:avLst/>
          </a:prstGeom>
          <a:solidFill>
            <a:srgbClr val="BFD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6420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284C7"/>
                </a:solidFill>
              </a:rPr>
              <a:t>기여도 대시보드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65960"/>
            <a:ext cx="1554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</a:rPr>
              <a:t>홍길동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0428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59669"/>
                </a:solidFill>
              </a:rPr>
              <a:t>87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24912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75A6B"/>
                </a:solidFill>
              </a:rPr>
              <a:t>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40280" y="1965960"/>
            <a:ext cx="1554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31720" y="2011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</a:rPr>
              <a:t>팀원B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30428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284C7"/>
                </a:solidFill>
              </a:rPr>
              <a:t>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2724912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75A6B"/>
                </a:solidFill>
              </a:rPr>
              <a:t>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77639" y="1965960"/>
            <a:ext cx="1554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69079" y="2011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</a:rPr>
              <a:t>팀원C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79" y="230428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9E0B"/>
                </a:solidFill>
              </a:rPr>
              <a:t>51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79" y="2724912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75A6B"/>
                </a:solidFill>
              </a:rPr>
              <a:t>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017520"/>
            <a:ext cx="5120640" cy="146304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063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75A6B"/>
                </a:solidFill>
              </a:rPr>
              <a:t>활동 유형별 기여도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3429000"/>
            <a:ext cx="594360" cy="777240"/>
          </a:xfrm>
          <a:prstGeom prst="rect">
            <a:avLst/>
          </a:prstGeom>
          <a:solidFill>
            <a:srgbClr val="05966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279392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75A6B"/>
                </a:solidFill>
              </a:rPr>
              <a:t>Task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3611880"/>
            <a:ext cx="594360" cy="594360"/>
          </a:xfrm>
          <a:prstGeom prst="rect">
            <a:avLst/>
          </a:prstGeom>
          <a:solidFill>
            <a:srgbClr val="05966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4279392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75A6B"/>
                </a:solidFill>
              </a:rPr>
              <a:t>Meet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40280" y="3794760"/>
            <a:ext cx="594360" cy="411480"/>
          </a:xfrm>
          <a:prstGeom prst="rect">
            <a:avLst/>
          </a:prstGeom>
          <a:solidFill>
            <a:srgbClr val="38BD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94560" y="4279392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75A6B"/>
                </a:solidFill>
              </a:rPr>
              <a:t>File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63240" y="3493008"/>
            <a:ext cx="594360" cy="713232"/>
          </a:xfrm>
          <a:prstGeom prst="rect">
            <a:avLst/>
          </a:prstGeom>
          <a:solidFill>
            <a:srgbClr val="05966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17520" y="4279392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75A6B"/>
                </a:solidFill>
              </a:rPr>
              <a:t>GitHub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86200" y="3730752"/>
            <a:ext cx="594360" cy="475488"/>
          </a:xfrm>
          <a:prstGeom prst="rect">
            <a:avLst/>
          </a:prstGeom>
          <a:solidFill>
            <a:srgbClr val="38BD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0" y="4279392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75A6B"/>
                </a:solidFill>
              </a:rPr>
              <a:t>Notion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09160" y="3858768"/>
            <a:ext cx="594360" cy="347472"/>
          </a:xfrm>
          <a:prstGeom prst="rect">
            <a:avLst/>
          </a:prstGeom>
          <a:solidFill>
            <a:srgbClr val="38BD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0" y="4279392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75A6B"/>
                </a:solidFill>
              </a:rPr>
              <a:t>Google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617720"/>
            <a:ext cx="5120640" cy="50292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66344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91C1C"/>
                </a:solidFill>
              </a:rPr>
              <a:t>⚠  IMBALANCE 경보: 팀원 간 기여도 편차 과도 (기준 30pt 초과)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1264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84C7"/>
                </a:solidFill>
              </a:rPr>
              <a:t>〈 기여도 대시보드 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1627632"/>
            <a:ext cx="557784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38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1627632"/>
            <a:ext cx="5577840" cy="274320"/>
          </a:xfrm>
          <a:prstGeom prst="rect">
            <a:avLst/>
          </a:prstGeom>
          <a:solidFill>
            <a:srgbClr val="BFD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166420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284C7"/>
                </a:solidFill>
              </a:rPr>
              <a:t>태스크 보드 (Kanban)</a:t>
            </a:r>
          </a:p>
        </p:txBody>
      </p:sp>
      <p:sp>
        <p:nvSpPr>
          <p:cNvPr id="41" name="Oval 40"/>
          <p:cNvSpPr/>
          <p:nvPr/>
        </p:nvSpPr>
        <p:spPr>
          <a:xfrm>
            <a:off x="6355080" y="1965960"/>
            <a:ext cx="914400" cy="237744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0F172A"/>
                </a:solidFill>
              </a:rPr>
              <a:t>전체</a:t>
            </a:r>
          </a:p>
        </p:txBody>
      </p:sp>
      <p:sp>
        <p:nvSpPr>
          <p:cNvPr id="42" name="Oval 41"/>
          <p:cNvSpPr/>
          <p:nvPr/>
        </p:nvSpPr>
        <p:spPr>
          <a:xfrm>
            <a:off x="7406640" y="1965960"/>
            <a:ext cx="914400" cy="2377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D946EF"/>
                </a:solidFill>
              </a:rPr>
              <a:t>긴급</a:t>
            </a:r>
          </a:p>
        </p:txBody>
      </p:sp>
      <p:sp>
        <p:nvSpPr>
          <p:cNvPr id="43" name="Oval 42"/>
          <p:cNvSpPr/>
          <p:nvPr/>
        </p:nvSpPr>
        <p:spPr>
          <a:xfrm>
            <a:off x="8458200" y="1965960"/>
            <a:ext cx="914400" cy="2377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F97316"/>
                </a:solidFill>
              </a:rPr>
              <a:t>높음</a:t>
            </a:r>
          </a:p>
        </p:txBody>
      </p:sp>
      <p:sp>
        <p:nvSpPr>
          <p:cNvPr id="44" name="Oval 43"/>
          <p:cNvSpPr/>
          <p:nvPr/>
        </p:nvSpPr>
        <p:spPr>
          <a:xfrm>
            <a:off x="9509760" y="1965960"/>
            <a:ext cx="914400" cy="2377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EAB308"/>
                </a:solidFill>
              </a:rPr>
              <a:t>보통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55080" y="2286000"/>
            <a:ext cx="1645920" cy="256032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2322576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72A"/>
                </a:solidFill>
              </a:rPr>
              <a:t>TODO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2615184"/>
            <a:ext cx="1554480" cy="841248"/>
          </a:xfrm>
          <a:prstGeom prst="rect">
            <a:avLst/>
          </a:prstGeom>
          <a:solidFill>
            <a:srgbClr val="F0F4F8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64808" y="26517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F172A"/>
                </a:solidFill>
              </a:rPr>
              <a:t>🔴 로그인 구현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64808" y="30175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75A6B"/>
                </a:solidFill>
              </a:rPr>
              <a:t>긴급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3575304"/>
            <a:ext cx="1554480" cy="841248"/>
          </a:xfrm>
          <a:prstGeom prst="rect">
            <a:avLst/>
          </a:prstGeom>
          <a:solidFill>
            <a:srgbClr val="F0F4F8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64808" y="361188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F172A"/>
                </a:solidFill>
              </a:rPr>
              <a:t>🟠 API 설계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64808" y="3977639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75A6B"/>
                </a:solidFill>
              </a:rPr>
              <a:t>높음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38160" y="2286000"/>
            <a:ext cx="1645920" cy="256032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83880" y="2322576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72A"/>
                </a:solidFill>
              </a:rPr>
              <a:t>진행중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83880" y="2615184"/>
            <a:ext cx="1554480" cy="841248"/>
          </a:xfrm>
          <a:prstGeom prst="rect">
            <a:avLst/>
          </a:prstGeom>
          <a:solidFill>
            <a:srgbClr val="F0F4F8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47888" y="26517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F172A"/>
                </a:solidFill>
              </a:rPr>
              <a:t>🟡 DB 설계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47888" y="30175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75A6B"/>
                </a:solidFill>
              </a:rPr>
              <a:t>보통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921240" y="2286000"/>
            <a:ext cx="1645920" cy="256032"/>
          </a:xfrm>
          <a:prstGeom prst="rect">
            <a:avLst/>
          </a:prstGeom>
          <a:solidFill>
            <a:srgbClr val="E2E8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966960" y="2322576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172A"/>
                </a:solidFill>
              </a:rPr>
              <a:t>완료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966960" y="2615184"/>
            <a:ext cx="1554480" cy="841248"/>
          </a:xfrm>
          <a:prstGeom prst="rect">
            <a:avLst/>
          </a:prstGeom>
          <a:solidFill>
            <a:srgbClr val="F0F4F8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030967" y="26517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F172A"/>
                </a:solidFill>
              </a:rPr>
              <a:t>✅ 기획서 작성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30967" y="30175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75A6B"/>
                </a:solidFill>
              </a:rPr>
              <a:t>낮음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966960" y="3575304"/>
            <a:ext cx="1554480" cy="841248"/>
          </a:xfrm>
          <a:prstGeom prst="rect">
            <a:avLst/>
          </a:prstGeom>
          <a:solidFill>
            <a:srgbClr val="F0F4F8"/>
          </a:solidFill>
          <a:ln w="12700">
            <a:solidFill>
              <a:srgbClr val="2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30967" y="361188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F172A"/>
                </a:solidFill>
              </a:rPr>
              <a:t>✅ ERD 완성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30967" y="3977639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475A6B"/>
                </a:solidFill>
              </a:rPr>
              <a:t>낮음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17920" y="61264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84C7"/>
                </a:solidFill>
              </a:rPr>
              <a:t>〈 태스크 보드 (Kanban) 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54864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02  프로젝트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A6B"/>
                </a:solidFill>
              </a:rPr>
              <a:t>화면 설계 — 주요 화면 소개 ②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72768"/>
            <a:ext cx="557784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38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572768"/>
            <a:ext cx="5577840" cy="246888"/>
          </a:xfrm>
          <a:prstGeom prst="rect">
            <a:avLst/>
          </a:prstGeom>
          <a:solidFill>
            <a:srgbClr val="BFD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609344"/>
            <a:ext cx="54406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284C7"/>
                </a:solidFill>
              </a:rPr>
              <a:t>📝  회의록 작성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" y="1892807"/>
            <a:ext cx="5431536" cy="3255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911095"/>
            <a:ext cx="5376672" cy="288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제목   2025-06-01 스프린트 회의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" y="2273198"/>
            <a:ext cx="5431536" cy="32552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2291486"/>
            <a:ext cx="5376672" cy="288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일시   2025-06-01  |  장소  Discord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" y="2653588"/>
            <a:ext cx="5431536" cy="32552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2671876"/>
            <a:ext cx="5376672" cy="288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목적   기여도 알고리즘 최종 확정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" y="3033979"/>
            <a:ext cx="5431536" cy="325526"/>
          </a:xfrm>
          <a:prstGeom prst="rect">
            <a:avLst/>
          </a:prstGeom>
          <a:solidFill>
            <a:srgbClr val="E8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3052267"/>
            <a:ext cx="5376672" cy="288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참석자  홍길동 ✓  팀원B ✓  팀원C 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" y="3414369"/>
            <a:ext cx="5431536" cy="325526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3432657"/>
            <a:ext cx="5376672" cy="288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[✉ Google Docs 내보내기]     [저장]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381304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84C7"/>
                </a:solidFill>
              </a:rPr>
              <a:t>〈 회의록 작성 화면 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572768"/>
            <a:ext cx="557784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38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572768"/>
            <a:ext cx="5577840" cy="246888"/>
          </a:xfrm>
          <a:prstGeom prst="rect">
            <a:avLst/>
          </a:prstGeom>
          <a:solidFill>
            <a:srgbClr val="BFD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79" y="1609344"/>
            <a:ext cx="54406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284C7"/>
                </a:solidFill>
              </a:rPr>
              <a:t>🤖  AI 팀 분석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36792" y="1892807"/>
            <a:ext cx="5431536" cy="3255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1911095"/>
            <a:ext cx="5376672" cy="288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[팀 역량 분석]        [커밋 품질 분석]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36792" y="2273198"/>
            <a:ext cx="5431536" cy="325526"/>
          </a:xfrm>
          <a:prstGeom prst="rect">
            <a:avLst/>
          </a:prstGeom>
          <a:solidFill>
            <a:srgbClr val="DCF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2291486"/>
            <a:ext cx="5376672" cy="288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✅ 강점  회의 참석률 95% (매우 우수)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36792" y="2653588"/>
            <a:ext cx="5431536" cy="325526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3368" y="2671876"/>
            <a:ext cx="5376672" cy="288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⚠️ 약점  GitHub 커밋 품질 편차 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36792" y="3033979"/>
            <a:ext cx="5431536" cy="32552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3052267"/>
            <a:ext cx="5376672" cy="288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💡 제안  코드 리뷰 문화 도입 권장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36792" y="3414369"/>
            <a:ext cx="5431536" cy="325526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3432657"/>
            <a:ext cx="5376672" cy="288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커밋 품질 평균  ★★★★☆  3.8 / 5.0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381304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84C7"/>
                </a:solidFill>
              </a:rPr>
              <a:t>〈 AI 분석 화면 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041648"/>
            <a:ext cx="557784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38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4041648"/>
            <a:ext cx="5577840" cy="246888"/>
          </a:xfrm>
          <a:prstGeom prst="rect">
            <a:avLst/>
          </a:prstGeom>
          <a:solidFill>
            <a:srgbClr val="BFD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79" y="4078224"/>
            <a:ext cx="54406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284C7"/>
                </a:solidFill>
              </a:rPr>
              <a:t>🔒  파일 검사 (File Vault)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3192" y="4361688"/>
            <a:ext cx="5431536" cy="325526"/>
          </a:xfrm>
          <a:prstGeom prst="rect">
            <a:avLst/>
          </a:prstGeom>
          <a:solidFill>
            <a:srgbClr val="E8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" y="4379976"/>
            <a:ext cx="5376672" cy="288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파일명             버전   SHA-256      상태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3192" y="4742078"/>
            <a:ext cx="5431536" cy="3255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9768" y="4760366"/>
            <a:ext cx="5376672" cy="288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report_final.pdf   v3     a1b2c3…      ✅ 정상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3192" y="5122468"/>
            <a:ext cx="5431536" cy="32552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9768" y="5140756"/>
            <a:ext cx="5376672" cy="288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design_v2.fig      v1     ff00aa…      ✅ 정상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3192" y="5502859"/>
            <a:ext cx="5431536" cy="325526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9768" y="5521147"/>
            <a:ext cx="5376672" cy="288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old_backup.zip     v2     dead01…      ⚠️ 변조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3192" y="5883249"/>
            <a:ext cx="5431536" cy="325526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9768" y="5901537"/>
            <a:ext cx="5376672" cy="288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[파일 업로드]   [무결성 검증]   [Drive 전송]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" y="628192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84C7"/>
                </a:solidFill>
              </a:rPr>
              <a:t>〈 파일 검사 화면 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4041648"/>
            <a:ext cx="557784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384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63640" y="4041648"/>
            <a:ext cx="5577840" cy="246888"/>
          </a:xfrm>
          <a:prstGeom prst="rect">
            <a:avLst/>
          </a:prstGeom>
          <a:solidFill>
            <a:srgbClr val="BFD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5079" y="4078224"/>
            <a:ext cx="54406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284C7"/>
                </a:solidFill>
              </a:rPr>
              <a:t>⚙️  설정 — 외부 연동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36792" y="4361688"/>
            <a:ext cx="5431536" cy="3255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73368" y="4379976"/>
            <a:ext cx="5376672" cy="288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[GitHub]  [Notion]  [Google]  [Discord]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36792" y="4742078"/>
            <a:ext cx="5431536" cy="325526"/>
          </a:xfrm>
          <a:prstGeom prst="rect">
            <a:avLst/>
          </a:prstGeom>
          <a:solidFill>
            <a:srgbClr val="DCF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73368" y="4760366"/>
            <a:ext cx="5376672" cy="288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🐙 GitHub  repo: thswjdgy/blackbox   ✅ 연결됨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36792" y="5122468"/>
            <a:ext cx="5431536" cy="325526"/>
          </a:xfrm>
          <a:prstGeom prst="rect">
            <a:avLst/>
          </a:prstGeom>
          <a:solidFill>
            <a:srgbClr val="DCF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73368" y="5140756"/>
            <a:ext cx="5376672" cy="288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📝 Notion  Database 연동             ✅ 연결됨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36792" y="5502859"/>
            <a:ext cx="5431536" cy="325526"/>
          </a:xfrm>
          <a:prstGeom prst="rect">
            <a:avLst/>
          </a:prstGeom>
          <a:solidFill>
            <a:srgbClr val="DCF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73368" y="5521147"/>
            <a:ext cx="5376672" cy="288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📊 Google  Drive 폴더 연동           ✅ 연결됨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36792" y="5883249"/>
            <a:ext cx="5431536" cy="32552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73368" y="5901537"/>
            <a:ext cx="5376672" cy="288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💬 Discord  Webhook URL  [저장] [테스트]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63640" y="628192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84C7"/>
                </a:solidFill>
              </a:rPr>
              <a:t>〈 설정 — 외부 연동 화면 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54864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03  프로젝트 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A6B"/>
                </a:solidFill>
              </a:rPr>
              <a:t>개발환경 및 도구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7040880" cy="36576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</a:rPr>
              <a:t>구분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</a:rPr>
              <a:t>기술 스택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</a:rPr>
              <a:t>버전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57400"/>
            <a:ext cx="7040880" cy="566928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762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프론트엔드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17627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Next.js · TypeScript · Tailwind CSS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7627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284C7"/>
                </a:solidFill>
              </a:rPr>
              <a:t>14.x · 5.x · 3.4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79192"/>
            <a:ext cx="70408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79806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백엔드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798064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Spring Boot · Java · Spring 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79806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284C7"/>
                </a:solidFill>
              </a:rPr>
              <a:t>3.x · 21 · 6.x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00984"/>
            <a:ext cx="7040880" cy="566928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41985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데이터베이스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419856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PostgreSQL · Flyway Migration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41985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284C7"/>
                </a:solidFill>
              </a:rPr>
              <a:t>15 · 9.x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922776"/>
            <a:ext cx="70408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04164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인프라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04164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Docker Compose · Nginx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04164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284C7"/>
                </a:solidFill>
              </a:rPr>
              <a:t>Latest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544568"/>
            <a:ext cx="7040880" cy="566928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6634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66344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OpenAI GPT-4.1-nano (WebClient)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6634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284C7"/>
                </a:solidFill>
              </a:rPr>
              <a:t>API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166360"/>
            <a:ext cx="70408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28523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외부 연동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528523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GitHub OAuth App · Notion API · Google Drive API · Discord Webhook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28523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284C7"/>
                </a:solidFill>
              </a:rPr>
              <a:t>-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164592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개발 도구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80960" y="2057400"/>
            <a:ext cx="42976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18120" y="21122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4C7"/>
                </a:solidFill>
              </a:rPr>
              <a:t>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20" y="237744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A6B"/>
                </a:solidFill>
              </a:rPr>
              <a:t>IntelliJ IDEA · VS Code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80960" y="2752344"/>
            <a:ext cx="42976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18120" y="28072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4C7"/>
                </a:solidFill>
              </a:rPr>
              <a:t>형상관리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307238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A6B"/>
                </a:solidFill>
              </a:rPr>
              <a:t>Git · GitHub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80960" y="3447288"/>
            <a:ext cx="42976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18120" y="35021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4C7"/>
                </a:solidFill>
              </a:rPr>
              <a:t>빌드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18120" y="376732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A6B"/>
                </a:solidFill>
              </a:rPr>
              <a:t>Gradle (백엔드) · npm (프론트엔드)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80960" y="4142232"/>
            <a:ext cx="42976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18120" y="41970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4C7"/>
                </a:solidFill>
              </a:rPr>
              <a:t>DB 관리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18120" y="446227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A6B"/>
                </a:solidFill>
              </a:rPr>
              <a:t>DBeaver · pgAdmin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80960" y="4837176"/>
            <a:ext cx="42976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18120" y="4892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4C7"/>
                </a:solidFill>
              </a:rPr>
              <a:t>API 테스트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18120" y="515721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A6B"/>
                </a:solidFill>
              </a:rPr>
              <a:t>Postman · Swagger UI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80960" y="5532120"/>
            <a:ext cx="42976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18120" y="5586983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4C7"/>
                </a:solidFill>
              </a:rPr>
              <a:t>협업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18120" y="5852159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A6B"/>
                </a:solidFill>
              </a:rPr>
              <a:t>GitHub Issues · Discord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54864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03  프로젝트 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A6B"/>
                </a:solidFill>
              </a:rPr>
              <a:t>구현 기능 ① — 기여도 점수 측정 시스템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11430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</a:rPr>
              <a:t>핵심 로직 — ScoreEngine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각 팀원의 7가지 활동 데이터를 수집 → raw 점수 산출 → Min-Max 정규화 → 0~100점 환산
• 가중치: Task(30%) · Meeting(20%) · File(10%) · GitHub(20%) · Notion(10%) · Google(10%)
• AI 커밋 품질 분석 결과(1~5점)를 scoreWeight에 반영 (x0.5 ~ x1.5)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154680"/>
            <a:ext cx="1783080" cy="1554480"/>
          </a:xfrm>
          <a:prstGeom prst="rect">
            <a:avLst/>
          </a:prstGeom>
          <a:solidFill>
            <a:srgbClr val="F0F4F8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📋 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0332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A6B"/>
                </a:solidFill>
              </a:rPr>
              <a:t>완료 태스크 수
× 우선순위 가중치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67712" y="3154680"/>
            <a:ext cx="1783080" cy="1554480"/>
          </a:xfrm>
          <a:prstGeom prst="rect">
            <a:avLst/>
          </a:prstGeom>
          <a:solidFill>
            <a:srgbClr val="F0F4F8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59152" y="324612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📅 Meeting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9152" y="370332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A6B"/>
                </a:solidFill>
              </a:rPr>
              <a:t>회의 참석 횟수
&amp; 시간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9664" y="3154680"/>
            <a:ext cx="1783080" cy="1554480"/>
          </a:xfrm>
          <a:prstGeom prst="rect">
            <a:avLst/>
          </a:prstGeom>
          <a:solidFill>
            <a:srgbClr val="F0F4F8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61104" y="324612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📁 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61104" y="370332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A6B"/>
                </a:solidFill>
              </a:rPr>
              <a:t>파일 업로드 수
&amp; 검증 통과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71616" y="3154680"/>
            <a:ext cx="1783080" cy="1554480"/>
          </a:xfrm>
          <a:prstGeom prst="rect">
            <a:avLst/>
          </a:prstGeom>
          <a:solidFill>
            <a:srgbClr val="F0F4F8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63056" y="324612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🐙 GitHub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3056" y="370332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A6B"/>
                </a:solidFill>
              </a:rPr>
              <a:t>커밋 수 + PR
× 품질 점수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73568" y="3154680"/>
            <a:ext cx="1783080" cy="1554480"/>
          </a:xfrm>
          <a:prstGeom prst="rect">
            <a:avLst/>
          </a:prstGeom>
          <a:solidFill>
            <a:srgbClr val="F0F4F8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65008" y="324612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📝 Notion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5008" y="370332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A6B"/>
                </a:solidFill>
              </a:rPr>
              <a:t>페이지 생성
&amp; 편집 횟수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5520" y="3154680"/>
            <a:ext cx="1783080" cy="1554480"/>
          </a:xfrm>
          <a:prstGeom prst="rect">
            <a:avLst/>
          </a:prstGeom>
          <a:solidFill>
            <a:srgbClr val="F0F4F8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0" y="324612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📊 Google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3703320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A6B"/>
                </a:solidFill>
              </a:rPr>
              <a:t>Docs/Sheets
활동 횟수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0" y="3657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284C7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846320"/>
            <a:ext cx="11430000" cy="173736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892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</a:rPr>
              <a:t>핵심 코드 — getReport() 점수 산출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257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6EFAC"/>
                </a:solidFill>
              </a:rPr>
              <a:t>double[] rawScores = {taskScore, meetingScore, fileScore, githubScore, notionScore, googleScore};
double[] weights   = {0.30, 0.20, 0.10, 0.20, 0.10, 0.10};
// Min-Max 정규화 후 0~100 점 환산 → 최종 normalized score 산출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54864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03  프로젝트 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A6B"/>
                </a:solidFill>
              </a:rPr>
              <a:t>구현 기능 ② — 외부 서비스 연동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55778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73152" cy="22402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🐙 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• OAuth App으로 GitHub 계정 자동 매핑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4261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• Webhook 수신 → 커밋/PR 즉시 반영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4495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• 6시간 폴링 백업 (Webhook 누락 방지)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4728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• repo URL 정규화 (https://github.com/ 자동 제거)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691640"/>
            <a:ext cx="55778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691640"/>
            <a:ext cx="73152" cy="22402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7830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📝  Notion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240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• Notion Integration Token 등록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64261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• Database 페이지 생성/편집 자동 감지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04495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• 6시간 폴링으로 활동 수집 → activity_log 저장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44728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• Discord에 Notion 업데이트 알림 전송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114800"/>
            <a:ext cx="55778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114800"/>
            <a:ext cx="73152" cy="224028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2062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📊  Google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6634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• OAuth 2.0으로 Google 계정 연동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06577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• Drive/Docs/Sheets 편집 활동 수집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46811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• 파일 업로드 시 Drive 자동 push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8704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• 회의록 → Google Docs 내보내기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4114800"/>
            <a:ext cx="55778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4114800"/>
            <a:ext cx="73152" cy="2240280"/>
          </a:xfrm>
          <a:prstGeom prst="rect">
            <a:avLst/>
          </a:prstGeom>
          <a:solidFill>
            <a:srgbClr val="586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2062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💬  Discord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6634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• 프로젝트별 Webhook URL 등록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506577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• 경보 발생 시 Embed 메시지 전송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546811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• GitHub·Notion·Google 업데이트 알림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58704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• 태스크·회의·파일 생성 시 알림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54864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03  프로젝트 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A6B"/>
                </a:solidFill>
              </a:rPr>
              <a:t>구현 기능 ③ — 파일 검사 · 캘린더 · 경보 시스템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3657600" cy="4892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365760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🔒  파일 무결성 검사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✓  SHA-256 해시 업로드 시 자동 계산 및 DB 저장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90672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✓  버전 관리: 동일 파일명 재업로드 시 v2, v3 자동 부여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95344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✓  중복 감지: 동일 해시 → 경고 반환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700016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✓  무결성 검증: 실제 해시 vs 저장 해시 비교 (변조 감지)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504688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✓  업로드 → Google Drive 자동 push → Discord 알림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645920"/>
            <a:ext cx="3657600" cy="4892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645920"/>
            <a:ext cx="3657600" cy="640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📅  캘린더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286000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✓  월별 그리드 뷰 (Tailwind CSS Grid, 외부 라이브러리 없음)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090672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✓  태스크 (우선순위별 색: URGENT=자홍·HIGH=주황·MEDIUM=황·LOW=회)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895344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✓  회의 일정 (하늘색) 동시 표시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700016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✓  일정 추가 모달: 태스크 탭 / 회의 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5504688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✓  생성 즉시 Discord 알림 전송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645920"/>
            <a:ext cx="3657600" cy="4892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645920"/>
            <a:ext cx="3657600" cy="64008"/>
          </a:xfrm>
          <a:prstGeom prst="rect">
            <a:avLst/>
          </a:prstGeom>
          <a:solidFill>
            <a:srgbClr val="FB7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🚨  스마트 경보 시스템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286000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✓  IMBALANCE: 기여도 편차 과도 (Gini 계수 기반)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3090672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✓  INACTIVITY: 특정 멤버 7일 이상 활동 없음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3895344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✓  OVERLOAD: 특정 멤버 과부하 (평균 2배 이상)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700016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✓  CRAMMING: 마감 직전 집중 활동 감지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5504688"/>
            <a:ext cx="3383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✓  DEADLINE: 마감 D-3 이내 태스크 자동 감지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54864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03  프로젝트 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A6B"/>
                </a:solidFill>
              </a:rPr>
              <a:t>AI 활용 기능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114300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</a:rPr>
              <a:t>AI 연동 구조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2286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84C7"/>
                </a:solidFill>
              </a:rPr>
              <a:t>Frontend
(Next.js)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2194560"/>
            <a:ext cx="2286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26060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84C7"/>
                </a:solidFill>
              </a:rPr>
              <a:t>Backend
(Spring Boot)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2194560"/>
            <a:ext cx="2286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26060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84C7"/>
                </a:solidFill>
              </a:rPr>
              <a:t>OpenAI
GPT-4.1-nano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2194560"/>
            <a:ext cx="22860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26060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84C7"/>
                </a:solidFill>
              </a:rPr>
              <a:t>ai_analysis
_results (DB)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284C7"/>
                </a:solidFill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284C7"/>
                </a:solidFill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284C7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206240"/>
            <a:ext cx="3657600" cy="2331720"/>
          </a:xfrm>
          <a:prstGeom prst="rect">
            <a:avLst/>
          </a:prstGeom>
          <a:solidFill>
            <a:srgbClr val="E8EF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2976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🤖  팀 역량 분석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75488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팀 전체 활동 데이터를 GPT-4.1-nano에 전달
→ 팀 강점/약점/개선 방향 자연어 보고서 생성
→ DB 캐싱 (중복 API 호출 방지)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4206240"/>
            <a:ext cx="3657600" cy="2331720"/>
          </a:xfrm>
          <a:prstGeom prst="rect">
            <a:avLst/>
          </a:prstGeom>
          <a:solidFill>
            <a:srgbClr val="E8EF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42976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📊  커밋 품질 분석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75488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최근 커밋 메시지·변경량 GPT 분석
→ 1~5점 품질 점수 산출
→ scoreWeight에 곱해 기여도 점수 반영 (x0.5~x1.5)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4206240"/>
            <a:ext cx="3657600" cy="2331720"/>
          </a:xfrm>
          <a:prstGeom prst="rect">
            <a:avLst/>
          </a:prstGeom>
          <a:solidFill>
            <a:srgbClr val="E8EF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42976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🛡️  개발 보조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75488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Claude Code (claude-sonnet-4-6) 활용
→ 전체 백엔드/프론트엔드 설계 및 구현 지원
→ 버그 수정, 아키텍처 결정, DB 스키마 설계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54864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04  2학기 진행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75A6B"/>
                </a:solidFill>
              </a:rPr>
              <a:t>신구EXPO 발표 대비 기능 확장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36576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365760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5564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</a:rPr>
              <a:t>7~8월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기반 고도화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• 라이브러리 시스템 구현 (참고자료 공유 기능)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7472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• 백업 플로우 UI 추가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34340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• 교수 대시보드 강화 (전체 프로젝트 조망)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645920"/>
            <a:ext cx="36576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645920"/>
            <a:ext cx="36576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75564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84C7"/>
                </a:solidFill>
              </a:rPr>
              <a:t>9월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1488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사용성 개선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60604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• 반응형 모바일 UI 최적화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47472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• 알림 설정 세분화 (채널별 온/오프)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34340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• 성능 최적화 (API 캐싱, DB 인덱싱)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1645920"/>
            <a:ext cx="36576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645920"/>
            <a:ext cx="3657600" cy="73152"/>
          </a:xfrm>
          <a:prstGeom prst="rect">
            <a:avLst/>
          </a:prstGeom>
          <a:solidFill>
            <a:srgbClr val="FB7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175564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7B5E"/>
                </a:solidFill>
              </a:rPr>
              <a:t>10월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1488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테스트 &amp; 안정화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60604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• 실제 수업 적용 베타 테스트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47472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• 사용자 피드백 반영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434340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• 신구EXPO 발표 준비 및 데모 환경 구축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6172200"/>
            <a:ext cx="11430000" cy="50292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2362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</a:rPr>
              <a:t>목표: 신구EXPO 전시 가능한 완성도 높은 서비스로 고도화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54864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05  결과 및 고찰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27632"/>
            <a:ext cx="114300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733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프로젝트 소감 및 느낀 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29968"/>
            <a:ext cx="11064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F172A"/>
                </a:solidFill>
              </a:rPr>
              <a:t>• 외부 API(GitHub·Notion·Google·Discord·OpenAI) 연동을 직접 구현하며 OAuth 2.0 인증 흐름과 Webhook 설계를 실전으로 익혔음
• Spring Boot + Next.js 풀스택과 Docker Compose 배포 환경을 처음부터 설계·구축하며 DevOps 기초를 체험
• 기여도를 단순 수치가 아닌 AI 분석으로 정성적 진단까지 연결하는 시스템 설계의 중요성을 깨달음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564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7B5E"/>
                </a:solidFill>
              </a:rPr>
              <a:t>시행착오 및 극복 사례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822191"/>
            <a:ext cx="3657600" cy="2788920"/>
          </a:xfrm>
          <a:prstGeom prst="rect">
            <a:avLst/>
          </a:prstGeom>
          <a:solidFill>
            <a:srgbClr val="FFF7F5"/>
          </a:solidFill>
          <a:ln w="12700">
            <a:solidFill>
              <a:srgbClr val="FB7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3822191"/>
            <a:ext cx="3657600" cy="54864"/>
          </a:xfrm>
          <a:prstGeom prst="rect">
            <a:avLst/>
          </a:prstGeom>
          <a:solidFill>
            <a:srgbClr val="FB7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904487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7B5E"/>
                </a:solidFill>
              </a:rPr>
              <a:t>① GitHub OAuth 연동 실패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315968"/>
            <a:ext cx="3383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A6B"/>
                </a:solidFill>
              </a:rPr>
              <a:t>문제: GitHub 로그인 클릭 시
client_id 빈값 오류 발생
원인: .env 값이 docker-compose.yml
환경변수 블록에 누락됨
해결: docker-compose.yml에
GITHUB_CLIENT_ID 명시적 추가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3822191"/>
            <a:ext cx="3657600" cy="2788920"/>
          </a:xfrm>
          <a:prstGeom prst="rect">
            <a:avLst/>
          </a:prstGeom>
          <a:solidFill>
            <a:srgbClr val="FFF7F5"/>
          </a:solidFill>
          <a:ln w="12700">
            <a:solidFill>
              <a:srgbClr val="FB7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3822191"/>
            <a:ext cx="3657600" cy="54864"/>
          </a:xfrm>
          <a:prstGeom prst="rect">
            <a:avLst/>
          </a:prstGeom>
          <a:solidFill>
            <a:srgbClr val="FB7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3904487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7B5E"/>
                </a:solidFill>
              </a:rPr>
              <a:t>② Java Map.of() 타입 오류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315968"/>
            <a:ext cx="3383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A6B"/>
                </a:solidFill>
              </a:rPr>
              <a:t>문제: Map.of("sha", str, "score", int)
혼합 타입으로 컴파일 에러 발생
원인: 제네릭 타입 추론 실패
(Map&lt;String,Object&gt; 불가)
해결: HashMap으로 교체 후
명시적 put() 사용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3822191"/>
            <a:ext cx="3657600" cy="2788920"/>
          </a:xfrm>
          <a:prstGeom prst="rect">
            <a:avLst/>
          </a:prstGeom>
          <a:solidFill>
            <a:srgbClr val="FFF7F5"/>
          </a:solidFill>
          <a:ln w="12700">
            <a:solidFill>
              <a:srgbClr val="FB7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3822191"/>
            <a:ext cx="3657600" cy="54864"/>
          </a:xfrm>
          <a:prstGeom prst="rect">
            <a:avLst/>
          </a:prstGeom>
          <a:solidFill>
            <a:srgbClr val="FB7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3904487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7B5E"/>
                </a:solidFill>
              </a:rPr>
              <a:t>③ PDF 한글 깨짐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315968"/>
            <a:ext cx="3383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A6B"/>
                </a:solidFill>
              </a:rPr>
              <a:t>문제: PDF 보고서 출력 시
한글이 모두 깨져서 표시됨
원인: iText 기본 폰트가
한글 글리프 미포함
해결: NanumGothic.ttf를
Docker 이미지에 포함 후
BaseFont로 명시 지정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54864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참고자료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11430000" cy="274320"/>
          </a:xfrm>
          <a:prstGeom prst="rect">
            <a:avLst/>
          </a:prstGeom>
          <a:solidFill>
            <a:srgbClr val="E8EFF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28216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</a:rPr>
              <a:t>📚 서적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0253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  • 스프링 부트 핵심 가이드 (위키북스, 장정우)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5000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  • 자바의 정석 3rd Edition (남궁 성)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807208"/>
            <a:ext cx="11430000" cy="274320"/>
          </a:xfrm>
          <a:prstGeom prst="rect">
            <a:avLst/>
          </a:prstGeom>
          <a:solidFill>
            <a:srgbClr val="E8EFF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843784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</a:rPr>
              <a:t>🎥 동영상·강의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18103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  • 인프런 - 스프링 입문 (김영한)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5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  • Next.js 공식 문서 튜토리얼 (nextjs.org/learn)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22776"/>
            <a:ext cx="11430000" cy="274320"/>
          </a:xfrm>
          <a:prstGeom prst="rect">
            <a:avLst/>
          </a:prstGeom>
          <a:solidFill>
            <a:srgbClr val="E8EFF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959352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</a:rPr>
              <a:t>🌐 공식 문서 &amp;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3367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  • Spring Boot Reference Docs — docs.spring.io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81144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  • GitHub REST API Docs — docs.github.com/en/rest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2861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  • Notion API Docs — developers.notion.com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76088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  • Google Drive API Docs — developers.google.com/drive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623559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  • Discord Webhook Guide — discord.com/developers/docs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71031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  • OpenAI API Reference — platform.openai.com/docs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6428231"/>
            <a:ext cx="11430000" cy="274320"/>
          </a:xfrm>
          <a:prstGeom prst="rect">
            <a:avLst/>
          </a:prstGeom>
          <a:solidFill>
            <a:srgbClr val="E8EFF5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464807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</a:rPr>
              <a:t>🤖 AI 활용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739127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  • Claude Code (claude-sonnet-4-6) — 전체 백엔드·프론트엔드 설계 및 구현 지원,
     버그 수정, DB 스키마 설계, Docker 환경 구성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7086599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A6B"/>
                </a:solidFill>
              </a:rPr>
              <a:t>  • ChatGPT (GPT-4o) — 알고리즘 아이디어 검토, 오류 원인 분석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2743200"/>
            <a:ext cx="4572000" cy="45720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0" y="4572000"/>
            <a:ext cx="2743200" cy="274320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F172A"/>
                </a:solidFill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75A6B"/>
                </a:solidFill>
              </a:rPr>
              <a:t>Team Blackbox  —  컴퓨터소프트웨어과  프로젝트 구현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206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59669"/>
                </a:solidFill>
              </a:rPr>
              <a:t>✓  풀스택 EdTech SaaS (Spring Boot + Next.js)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70915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59669"/>
                </a:solidFill>
              </a:rPr>
              <a:t>✓  5개 외부 서비스 연동 (GitHub·Notion·Google·Discord·OpenAI)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521207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59669"/>
                </a:solidFill>
              </a:rPr>
              <a:t>✓  AI 기반 자동 기여도 측정 &amp; 경보 시스템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